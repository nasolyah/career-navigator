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Career Navigator. Мы сделали не тест на профессию, а живую карту, которая ведёт девятиклассника три года до поступления. Прототип работает вживую — покажем в конце.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Четыре вопроса прямо из кейса. Важно: в 9 классе времени как будто много, и поэтому решение откладывают — а в 11 классе на него уже нет времени.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Мы выбрали одного пользователя, а не «всех школьников». Главный аргумент за 9 класс — время: это единственный класс, где ещё можно попробовать и передумать.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Общий провал у всех один: вердикт выдаётся один раз. Отсюда наша идея — не тест, а спутник.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Ключевой слайд. Профтест выбирает один главный интерес — мы связываем все в пересечения. И метафора метро объясняет главное: ошибка не стоит трёх лет, потому что есть пересадки.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Семь шагов пути. Восьмой — возвращение: именно он отличает спутника от теста.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Здесь переходим к живой демонстрации. План: заполнить за Даню — карта от AI — открыть линию — сделать шаг — показать, как карта изменилась.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Отвечаем на главный вопрос жюри: где здесь AI, а не обёртка вокруг чата. Ответ — в разделении: модель связывает и объясняет, факты берёт код из справочника, и есть fallback.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Рынок — три страны, потому что продукт языконезависим и проблема одинаковая. Главное: 2,7 миллиона девятиклассников каждый год, и спрос со стороны школ уже создан государством — в России профориентация обязательна с 2023 года, требование есть, а инструмента нет. Второе главное: семья девятиклассника уже тратит около 250 долларов в месяц на подготовку, наши 6 долларов — это два процента. TAM, SAM и SOM — наш собственный расчёт от числа учеников, а не чужая оценка рынка, и мы честно это подписываем.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Ключевой вопрос кейса — за что готовы платить. Ответ: за сопровождение, а не за тест. И начинаем со школ, потому что привлекать подростка поштучно дорого.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Финал: возвращаемся к формулировке кейса. И приглашаем жюри открыть ссылку и собрать карту на себя.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EDTECH HACKATHON  ·  КЕЙС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34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Career Navigator</a:t>
            </a:r>
            <a:endParaRPr lang="en-US" sz="58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51460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Живая карта, которая показывает девятикласснику, как его разные интересы складываются в маршруты — и что сделать уже в этой четверти.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914400" y="4768596"/>
            <a:ext cx="7955280" cy="64008"/>
          </a:xfrm>
          <a:prstGeom prst="rect">
            <a:avLst/>
          </a:prstGeom>
          <a:solidFill>
            <a:srgbClr val="0B5D6E"/>
          </a:solidFill>
          <a:ln w="12700">
            <a:solidFill>
              <a:srgbClr val="0B5D6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5528" y="468172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A9C9D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6112" y="50200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Интересы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47288" y="468172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A9C9D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47872" y="50200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Профессии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99048" y="468172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A9C9D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99632" y="50200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Навыки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750808" y="468172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A9C9D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851392" y="50200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Университет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59893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career-navigator.markingmark33.workers.dev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15 лет от школьника ждут большого решения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070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Четыре вопроса, на которые он не может ответить один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5120640" cy="1645920"/>
          </a:xfrm>
          <a:prstGeom prst="roundRect">
            <a:avLst>
              <a:gd name="adj" fmla="val 4444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22219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5D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«Кем я хочу стать?»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679192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Интересов много, но непонятно, какие из них превращаются в профессию.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55080" y="1965960"/>
            <a:ext cx="5120640" cy="1645920"/>
          </a:xfrm>
          <a:prstGeom prst="roundRect">
            <a:avLst>
              <a:gd name="adj" fmla="val 4444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720840" y="22219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5D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«Что выбрать?»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6720840" y="2679192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Названия специальностей ничего не говорят о реальной работе после выпуска.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3794760"/>
            <a:ext cx="5120640" cy="1645920"/>
          </a:xfrm>
          <a:prstGeom prst="roundRect">
            <a:avLst>
              <a:gd name="adj" fmla="val 4444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40507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5D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«Что мне развивать?»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4507992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Неясно, какие знания, навыки и проекты нужны уже сейчас.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355080" y="3794760"/>
            <a:ext cx="5120640" cy="1645920"/>
          </a:xfrm>
          <a:prstGeom prst="roundRect">
            <a:avLst>
              <a:gd name="adj" fmla="val 4444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720840" y="40507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5D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«Куда поступать?»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6720840" y="4507992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Тысячи вузов и программ делают выбор сложным и случайным.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57150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D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Времени вроде много — и именно поэтому решение откладывается до 11 класса, когда выбирать уже поздно.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Даня, 15 лет, 9 класс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070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пустой — просто не видит, как склеить свои увлечения во что-то одно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77240" y="2020824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B6BE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011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Шахматы</a:t>
            </a:r>
            <a:pPr indent="0" marL="0">
              <a:buNone/>
            </a:pPr>
            <a:r>
              <a:rPr lang="en-US" sz="15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разбирает партии гроссмейстеров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2734056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08A2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34440" y="272491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Монтаж</a:t>
            </a:r>
            <a:pPr indent="0" marL="0">
              <a:buNone/>
            </a:pPr>
            <a:r>
              <a:rPr lang="en-US" sz="15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режет ролики друзьям в CapCut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3447288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9E5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234440" y="343814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Биология</a:t>
            </a:r>
            <a:pPr indent="0" marL="0">
              <a:buNone/>
            </a:pPr>
            <a:r>
              <a:rPr lang="en-US" sz="15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единственный, кому интересно на уроке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4160520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6428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234440" y="415137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Figma</a:t>
            </a:r>
            <a:pPr indent="0" marL="0">
              <a:buNone/>
            </a:pPr>
            <a:r>
              <a:rPr lang="en-US" sz="15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рисует вечерами просто так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92240" y="1920240"/>
            <a:ext cx="5029200" cy="2103120"/>
          </a:xfrm>
          <a:prstGeom prst="roundRect">
            <a:avLst>
              <a:gd name="adj" fmla="val 3478"/>
            </a:avLst>
          </a:prstGeom>
          <a:solidFill>
            <a:srgbClr val="0B5D6E"/>
          </a:solidFill>
          <a:ln w="12700">
            <a:solidFill>
              <a:srgbClr val="0B5D6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12280" y="2148840"/>
            <a:ext cx="4389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«У меня много всего, что мне нравится, но я не понимаю, что из этого про меня, а что просто развлечение. И что мне с этим делать прямо сейчас».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42062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Родители давят: «определяйся». Школа: один классный час и тест из 90-х.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85800" y="5029200"/>
            <a:ext cx="10835640" cy="1188720"/>
          </a:xfrm>
          <a:prstGeom prst="roundRect">
            <a:avLst>
              <a:gd name="adj" fmla="val 6154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51560" y="5230368"/>
            <a:ext cx="10104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0B5D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Ключевой инсайт.  </a:t>
            </a:r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 девятиклассника есть ресурс, которого нет у одиннадцатиклассника, — время. Три года можно пробовать, ошибаться и передумывать. Все существующие решения этот ресурс игнорируют: они решают судьбу за один вечер.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Почему существующие решения ему не помогают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85800" y="1655064"/>
            <a:ext cx="10835640" cy="658368"/>
          </a:xfrm>
          <a:prstGeom prst="roundRect">
            <a:avLst>
              <a:gd name="adj" fmla="val 11111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51560" y="1783080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D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Профтесты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977640" y="178308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Выдают ярлык «человек–техника» без «почему» и без «что дальше». Одноразово.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532888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D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Карьерный консультант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977640" y="2532888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$50–150 за сессию, разово, не сопровождает три года.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3154680"/>
            <a:ext cx="10835640" cy="658368"/>
          </a:xfrm>
          <a:prstGeom prst="roundRect">
            <a:avLst>
              <a:gd name="adj" fmla="val 11111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51560" y="3282696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D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Родители и учителя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977640" y="3282696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Советуют из своего опыта и своих страхов: «иди в айти, там деньги».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4032504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D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 и поиск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977640" y="4032504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Ответит один раз, но не помнит о тебе и не вернётся через месяц.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4654296"/>
            <a:ext cx="10835640" cy="658368"/>
          </a:xfrm>
          <a:prstGeom prst="roundRect">
            <a:avLst>
              <a:gd name="adj" fmla="val 11111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51560" y="478231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D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Агрегаторы вузов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977640" y="4782312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Отвечают «куда поступать», а не «кем быть». Для 9 класса рано.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85800" y="5532120"/>
            <a:ext cx="10835640" cy="868680"/>
          </a:xfrm>
          <a:prstGeom prst="roundRect">
            <a:avLst>
              <a:gd name="adj" fmla="val 8421"/>
            </a:avLst>
          </a:prstGeom>
          <a:solidFill>
            <a:srgbClr val="0B5D6E"/>
          </a:solidFill>
          <a:ln w="12700">
            <a:solidFill>
              <a:srgbClr val="0B5D6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5715000"/>
            <a:ext cx="10104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 дают вердикт один раз. А нужен спутник, который ведёт три года и пересобирает маршрут, когда ученик меняется.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 список профессий, а карта маршрутов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070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Интересы — станции старта. Профессии — линии. Навыки — остановки. Чего не хватает — пунктир.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9659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Шахматы + Figma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246120" y="2112264"/>
            <a:ext cx="4892040" cy="73152"/>
          </a:xfrm>
          <a:prstGeom prst="rect">
            <a:avLst/>
          </a:prstGeom>
          <a:solidFill>
            <a:srgbClr val="2B6BE4"/>
          </a:solidFill>
          <a:ln w="12700">
            <a:solidFill>
              <a:srgbClr val="2B6B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703320" y="205740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B6BE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800600" y="205740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B6BE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897880" y="205740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B6BE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995160" y="205740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B6BE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37576" y="2048256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31750">
            <a:solidFill>
              <a:srgbClr val="2B6BE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58200" y="191109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Геймдизайн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ВШЭ Школа дизайна · ИТМО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606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Шахматы + Биология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246120" y="2752344"/>
            <a:ext cx="4892040" cy="73152"/>
          </a:xfrm>
          <a:prstGeom prst="rect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703320" y="26974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9E5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00600" y="26974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9E5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897880" y="26974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9E5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995160" y="26974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9E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37576" y="2688336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31750">
            <a:solidFill>
              <a:srgbClr val="2E9E5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458200" y="255117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Биоинформатика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МГУ, ФББ · ИТМО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Биология + Монтаж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3246120" y="3392424"/>
            <a:ext cx="4892040" cy="73152"/>
          </a:xfrm>
          <a:prstGeom prst="rect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703320" y="333756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08A2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800600" y="333756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08A2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897880" y="333756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08A2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95160" y="333756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08A2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37576" y="3328416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31750">
            <a:solidFill>
              <a:srgbClr val="E08A2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458200" y="319125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Медиа о науке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ВШЭ · МГУ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85800" y="38862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Монтаж + Figma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3246120" y="4032504"/>
            <a:ext cx="4892040" cy="73152"/>
          </a:xfrm>
          <a:prstGeom prst="rect">
            <a:avLst/>
          </a:prstGeom>
          <a:solidFill>
            <a:srgbClr val="D6428F"/>
          </a:solidFill>
          <a:ln w="12700">
            <a:solidFill>
              <a:srgbClr val="D6428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03320" y="397764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6428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800600" y="397764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6428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897880" y="397764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6428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995160" y="397764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6428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037576" y="3968496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31750">
            <a:solidFill>
              <a:srgbClr val="D6428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458200" y="383133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Моушн-дизайн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ВШЭ Школа дизайна · Британка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4855464" y="2148840"/>
            <a:ext cx="73152" cy="640080"/>
          </a:xfrm>
          <a:prstGeom prst="rect">
            <a:avLst/>
          </a:prstGeom>
          <a:solidFill>
            <a:srgbClr val="16242A"/>
          </a:solidFill>
          <a:ln w="12700">
            <a:solidFill>
              <a:srgbClr val="16242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73168" y="202996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6242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73168" y="26700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6242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85800" y="44348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Python-основы — пересадка: одна станция работает на двух линиях сразу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85800" y="4937760"/>
            <a:ext cx="10835640" cy="1325880"/>
          </a:xfrm>
          <a:prstGeom prst="roundRect">
            <a:avLst>
              <a:gd name="adj" fmla="val 5517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1051560" y="5120640"/>
            <a:ext cx="10104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5D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«Пересадку можно сделать без потери пройденного»</a:t>
            </a:r>
            <a:endParaRPr lang="en-US" sz="2100" dirty="0"/>
          </a:p>
        </p:txBody>
      </p:sp>
      <p:sp>
        <p:nvSpPr>
          <p:cNvPr id="42" name="Text 40"/>
          <p:cNvSpPr txBox="1"/>
          <p:nvPr/>
        </p:nvSpPr>
        <p:spPr>
          <a:xfrm>
            <a:off x="1051560" y="5559552"/>
            <a:ext cx="10104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Если через год Даня поймёт, что биоинформатика не его, он не начинает с нуля — пересаживается на соседнюю линию через общую станцию. Это ответ на его главный страх: ошибиться и потерять годы.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Путь: от «не знаю» до конкретного шага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070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каждом шаге видно, почему система показала именно это и что делать дальше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371600" y="2670048"/>
            <a:ext cx="9509760" cy="54864"/>
          </a:xfrm>
          <a:prstGeom prst="rect">
            <a:avLst/>
          </a:prstGeom>
          <a:solidFill>
            <a:srgbClr val="0B5D6E"/>
          </a:solidFill>
          <a:ln w="12700">
            <a:solidFill>
              <a:srgbClr val="0B5D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514600"/>
            <a:ext cx="365760" cy="365760"/>
          </a:xfrm>
          <a:prstGeom prst="ellipse">
            <a:avLst/>
          </a:prstGeom>
          <a:solidFill>
            <a:srgbClr val="0B5D6E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148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Профиль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303580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имя, четверть,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куда поступать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2773680" y="2514600"/>
            <a:ext cx="365760" cy="365760"/>
          </a:xfrm>
          <a:prstGeom prst="ellipse">
            <a:avLst/>
          </a:prstGeom>
          <a:solidFill>
            <a:srgbClr val="0B5D6E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179320" y="2148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Разговор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2179320" y="303580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вопросов,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тест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4358640" y="2514600"/>
            <a:ext cx="365760" cy="365760"/>
          </a:xfrm>
          <a:prstGeom prst="ellipse">
            <a:avLst/>
          </a:prstGeom>
          <a:solidFill>
            <a:srgbClr val="0B5D6E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764280" y="2148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Пересечения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3764280" y="303580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ищет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комбинации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2514600"/>
            <a:ext cx="365760" cy="365760"/>
          </a:xfrm>
          <a:prstGeom prst="ellipse">
            <a:avLst/>
          </a:prstGeom>
          <a:solidFill>
            <a:srgbClr val="0B5D6E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349240" y="2148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Карта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5349240" y="303580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линии, станции,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пересадки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528560" y="2514600"/>
            <a:ext cx="365760" cy="365760"/>
          </a:xfrm>
          <a:prstGeom prst="ellipse">
            <a:avLst/>
          </a:prstGeom>
          <a:solidFill>
            <a:srgbClr val="0B5D6E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934200" y="2148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Линия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6934200" y="303580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это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 тебя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9113520" y="2514600"/>
            <a:ext cx="365760" cy="365760"/>
          </a:xfrm>
          <a:prstGeom prst="ellipse">
            <a:avLst/>
          </a:prstGeom>
          <a:solidFill>
            <a:srgbClr val="0B5D6E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519160" y="2148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Шаг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8519160" y="303580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одно действие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четверть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10698480" y="2514600"/>
            <a:ext cx="365760" cy="365760"/>
          </a:xfrm>
          <a:prstGeom prst="ellipse">
            <a:avLst/>
          </a:prstGeom>
          <a:solidFill>
            <a:srgbClr val="E08A2E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104120" y="2148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Карта меняется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10104120" y="303580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после каждого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события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080760" y="3931920"/>
            <a:ext cx="4800600" cy="0"/>
          </a:xfrm>
          <a:prstGeom prst="line">
            <a:avLst/>
          </a:prstGeom>
          <a:noFill/>
          <a:ln w="19050">
            <a:solidFill>
              <a:srgbClr val="E08A2E"/>
            </a:solidFill>
            <a:prstDash val="dash"/>
            <a:headEnd type="triangle"/>
          </a:ln>
        </p:spPr>
      </p:sp>
      <p:sp>
        <p:nvSpPr>
          <p:cNvPr id="27" name="Text 25"/>
          <p:cNvSpPr txBox="1"/>
          <p:nvPr/>
        </p:nvSpPr>
        <p:spPr>
          <a:xfrm>
            <a:off x="6080760" y="4023360"/>
            <a:ext cx="4800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E0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карта пересобирается — и цикл повторяется каждую четверть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85800" y="4754880"/>
            <a:ext cx="10835640" cy="1371600"/>
          </a:xfrm>
          <a:prstGeom prst="roundRect">
            <a:avLst>
              <a:gd name="adj" fmla="val 5333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51560" y="4983480"/>
            <a:ext cx="10104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0B5D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Здесь и живёт retention.  </a:t>
            </a:r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Продукт остаётся нужным три года, потому что меняется вместе с учеником. Не план на три года сразу, а один шаг на эту четверть — и новый шаг, когда предыдущий сделан. Возврат происходит по событиям: прошёл шаг, пришли оценки, появился новый интерес.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Прототип работает — это не мокап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070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Открывается по ссылке с любого ноутбука, без установки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920240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17414D"/>
          </a:solidFill>
          <a:ln w="12700">
            <a:solidFill>
              <a:srgbClr val="17414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1031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сек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7889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карта собирается живым AI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 конкретного ученика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480560" y="1920240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17414D"/>
          </a:solidFill>
          <a:ln w="12700">
            <a:solidFill>
              <a:srgbClr val="17414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21031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3–5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27889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линий, у каждой — объяснение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«почему это про тебя»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75320" y="1920240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17414D"/>
          </a:solidFill>
          <a:ln w="12700">
            <a:solidFill>
              <a:srgbClr val="17414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595360" y="21031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8595360" y="27889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региона поступления: СНГ,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Европа, США, Азия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04088" y="4023360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B6BE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397764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Разговор вместо теста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вопросов, под каждым — зачем спрашиваем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327648" y="4023360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9E5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720840" y="397764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Карта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клик по станции: что это и на каких линиях нужно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04088" y="477316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08A2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97280" y="4727448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Мои шаги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«Я сделал шаг» → карта перестраивается на глазах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27648" y="477316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6428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20840" y="4727448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Профиль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оценки и новые интересы пересобирают маршруты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5760720"/>
            <a:ext cx="10835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career-navigator.markingmark33.workers.dev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Где здесь AI — и где его сознательно нет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070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связывает и объясняет. Факты берутся из справочника, а не из головы модели.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916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5D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делает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49808" y="2221992"/>
            <a:ext cx="146304" cy="146304"/>
          </a:xfrm>
          <a:prstGeom prst="ellipse">
            <a:avLst/>
          </a:prstGeom>
          <a:solidFill>
            <a:srgbClr val="0B5D6E"/>
          </a:solidFill>
          <a:ln w="12700">
            <a:solidFill>
              <a:srgbClr val="0B5D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2148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Признаки из свободных ответов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«шахматы + биология = ищет закономерности в сложных системах»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749808" y="2935224"/>
            <a:ext cx="146304" cy="146304"/>
          </a:xfrm>
          <a:prstGeom prst="ellipse">
            <a:avLst/>
          </a:prstGeom>
          <a:solidFill>
            <a:srgbClr val="0B5D6E"/>
          </a:solidFill>
          <a:ln w="12700">
            <a:solidFill>
              <a:srgbClr val="0B5D6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97280" y="2862072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Пересечения, а не главный интерес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перебирает комбинации и сверяет со справочником профессий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49808" y="3648456"/>
            <a:ext cx="146304" cy="146304"/>
          </a:xfrm>
          <a:prstGeom prst="ellipse">
            <a:avLst/>
          </a:prstGeom>
          <a:solidFill>
            <a:srgbClr val="0B5D6E"/>
          </a:solidFill>
          <a:ln w="12700">
            <a:solidFill>
              <a:srgbClr val="0B5D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575304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«Почему» на языке 15-летнего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 канцелярита, со ссылкой на его же ответы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49808" y="4361688"/>
            <a:ext cx="146304" cy="146304"/>
          </a:xfrm>
          <a:prstGeom prst="ellipse">
            <a:avLst/>
          </a:prstGeom>
          <a:solidFill>
            <a:srgbClr val="0B5D6E"/>
          </a:solidFill>
          <a:ln w="12700">
            <a:solidFill>
              <a:srgbClr val="0B5D6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97280" y="4288536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Пересборка после каждого события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шаг сделан, пришли оценки, появился новый интерес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6492240" y="16916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Код делает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556248" y="2221992"/>
            <a:ext cx="146304" cy="146304"/>
          </a:xfrm>
          <a:prstGeom prst="ellipse">
            <a:avLst/>
          </a:prstGeom>
          <a:solidFill>
            <a:srgbClr val="5A7078"/>
          </a:solidFill>
          <a:ln w="12700">
            <a:solidFill>
              <a:srgbClr val="5A70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03720" y="2148840"/>
            <a:ext cx="4617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Факты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специальности и вузы — из справочника на 22 профессии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556248" y="2935224"/>
            <a:ext cx="146304" cy="146304"/>
          </a:xfrm>
          <a:prstGeom prst="ellipse">
            <a:avLst/>
          </a:prstGeom>
          <a:solidFill>
            <a:srgbClr val="5A7078"/>
          </a:solidFill>
          <a:ln w="12700">
            <a:solidFill>
              <a:srgbClr val="5A707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03720" y="2862072"/>
            <a:ext cx="4617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Геометрия карты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раскладка линий, статусы станций, пересадки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556248" y="3648456"/>
            <a:ext cx="146304" cy="146304"/>
          </a:xfrm>
          <a:prstGeom prst="ellipse">
            <a:avLst/>
          </a:prstGeom>
          <a:solidFill>
            <a:srgbClr val="5A7078"/>
          </a:solidFill>
          <a:ln w="12700">
            <a:solidFill>
              <a:srgbClr val="5A707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903720" y="3575304"/>
            <a:ext cx="4617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Fallback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модель молчит 40 секунд → карта из локальных данных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85800" y="4892040"/>
            <a:ext cx="10835640" cy="1325880"/>
          </a:xfrm>
          <a:prstGeom prst="roundRect">
            <a:avLst>
              <a:gd name="adj" fmla="val 5517"/>
            </a:avLst>
          </a:prstGeom>
          <a:solidFill>
            <a:srgbClr val="0B5D6E"/>
          </a:solidFill>
          <a:ln w="12700">
            <a:solidFill>
              <a:srgbClr val="0B5D6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51560" y="5074920"/>
            <a:ext cx="10104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Ограничители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5440680"/>
            <a:ext cx="10104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Карта никогда не сужается до одной линии. Ни одной рекомендации без «почему». Каждое событие заканчивается шагом, а не вердиктом. Решение всегда за учеником — AI снижает неопределённость, а не выбирает за него.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Рынок: 2,7 млн девятиклассников в год в трёх странах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070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Россия, Казахстан, Узбекистан. Все цифры — из открытых источников, ссылки внизу слайда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17373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Страна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7373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класс в год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5440680" y="17373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Школ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7269480" y="17373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Рынок EdTech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85800" y="2011680"/>
            <a:ext cx="10835640" cy="402336"/>
          </a:xfrm>
          <a:prstGeom prst="roundRect">
            <a:avLst>
              <a:gd name="adj" fmla="val 18182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60120" y="20848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Россия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246120" y="20848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1,71 млн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5440680" y="208483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~40 000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269480" y="208483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154 млрд ₽ в 2025-м, +12 % за год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960120" y="250545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Казахстан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3246120" y="250545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360 тыс.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440680" y="250545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8 048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269480" y="250545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млрд ₸ в 2025-м, +20 % в 2024-м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85800" y="2852928"/>
            <a:ext cx="10835640" cy="402336"/>
          </a:xfrm>
          <a:prstGeom prst="roundRect">
            <a:avLst>
              <a:gd name="adj" fmla="val 18182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60120" y="2926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Узбекистан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3246120" y="29260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622 тыс.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440680" y="29260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11 118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7269480" y="29260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126 млрд сумов, +94 % за год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960120" y="334670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5D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Вместе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3246120" y="334670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5D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2,69 млн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440680" y="33467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5D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59 000+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7269480" y="33467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5D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млн школьников в трёх странах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85800" y="3840480"/>
            <a:ext cx="10835640" cy="457200"/>
          </a:xfrm>
          <a:prstGeom prst="roundRect">
            <a:avLst>
              <a:gd name="adj" fmla="val 16000"/>
            </a:avLst>
          </a:prstGeom>
          <a:solidFill>
            <a:srgbClr val="0B5D6E"/>
          </a:solidFill>
          <a:ln w="12700">
            <a:solidFill>
              <a:srgbClr val="0B5D6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05840" y="3931920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России профориентация обязательна в школах с 1 сентября 2023 года — курс «Россия — мои горизонты», 8,4 млн школьников. Требование есть, инструмента нет.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85800" y="448056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Семья уже платит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749808" y="4901184"/>
            <a:ext cx="146304" cy="146304"/>
          </a:xfrm>
          <a:prstGeom prst="ellipse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97280" y="484632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5 100 ₽ в неделю 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тратят родители девятиклассника в России на дополнительные занятия — около $250 в месяц (Superjob, 2026)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749808" y="5468112"/>
            <a:ext cx="146304" cy="146304"/>
          </a:xfrm>
          <a:prstGeom prst="ellipse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97280" y="5413248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Наши $6 в месяц 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это примерно 2 % от того, что семья платит и так. Каждая вторая семья платит репетиторам — против 27 % в 2020-м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6492240" y="448056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Объём рынка — наш расчёт</a:t>
            </a:r>
            <a:endParaRPr lang="en-US" sz="1700" dirty="0"/>
          </a:p>
        </p:txBody>
      </p:sp>
      <p:sp>
        <p:nvSpPr>
          <p:cNvPr id="34" name="Shape 32"/>
          <p:cNvSpPr/>
          <p:nvPr/>
        </p:nvSpPr>
        <p:spPr>
          <a:xfrm>
            <a:off x="6556248" y="4882896"/>
            <a:ext cx="146304" cy="146304"/>
          </a:xfrm>
          <a:prstGeom prst="ellipse">
            <a:avLst/>
          </a:prstGeom>
          <a:solidFill>
            <a:srgbClr val="2B6BE4"/>
          </a:solidFill>
          <a:ln w="12700">
            <a:solidFill>
              <a:srgbClr val="2B6BE4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903720" y="484632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  $395 млн  </a:t>
            </a:r>
            <a:pPr indent="0" marL="0"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8,1 млн учеников 9–11 классов трёх стран × $49 в год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6556248" y="5285232"/>
            <a:ext cx="146304" cy="146304"/>
          </a:xfrm>
          <a:prstGeom prst="ellipse">
            <a:avLst/>
          </a:prstGeom>
          <a:solidFill>
            <a:srgbClr val="2B6BE4"/>
          </a:solidFill>
          <a:ln w="12700">
            <a:solidFill>
              <a:srgbClr val="2B6BE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903720" y="5248656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  $160 млн  </a:t>
            </a:r>
            <a:pPr indent="0" marL="0"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40 % семей — те, кто уже платит за дополнительное образование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6556248" y="5687568"/>
            <a:ext cx="146304" cy="146304"/>
          </a:xfrm>
          <a:prstGeom prst="ellipse">
            <a:avLst/>
          </a:prstGeom>
          <a:solidFill>
            <a:srgbClr val="2B6BE4"/>
          </a:solidFill>
          <a:ln w="12700">
            <a:solidFill>
              <a:srgbClr val="2B6BE4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903720" y="5650992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  $1,6 млн  </a:t>
            </a:r>
            <a:pPr indent="0" marL="0"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1 % SAM к третьему году плюс школьные лицензии</a:t>
            </a:r>
            <a:endParaRPr lang="en-US" sz="1250" dirty="0"/>
          </a:p>
        </p:txBody>
      </p:sp>
      <p:sp>
        <p:nvSpPr>
          <p:cNvPr id="40" name="Text 38"/>
          <p:cNvSpPr txBox="1"/>
          <p:nvPr/>
        </p:nvSpPr>
        <p:spPr>
          <a:xfrm>
            <a:off x="685800" y="6144768"/>
            <a:ext cx="10835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Источники: Рособрнадзор и «Интерфакс» (ОГЭ-2026), Минпросвещения РФ и РК, Госкомстат Узбекистана (2025/26), «Россия — мои горизонты», Smart Ranking, EdTech-обзоры по РК и УЗ, Superjob (опрос 3000 родителей, 2026), курс ЦБ РФ 86,9 ₽/$ на 04.09.2026. $49 — российская цена, для Казахстана и Узбекистана её нужно адаптировать, поэтому TAM — верхняя граница.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 разовый тест не платят. За сопровождение — платят.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070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Ценность растёт три года: чем дольше ученик пользуется картой, тем она точнее. Пользуется ученик — платит взрослый.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874520"/>
            <a:ext cx="3383280" cy="2148840"/>
          </a:xfrm>
          <a:prstGeom prst="roundRect">
            <a:avLst>
              <a:gd name="adj" fmla="val 3404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207568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9E5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325880" y="202996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Родитель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24505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9E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 / мес  ·  $49 / год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28346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Спокойствие: у ребёнка есть план, и он им занимается. Дешевле одной сессии консультанта ($50–150).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480560" y="1874520"/>
            <a:ext cx="3383280" cy="2148840"/>
          </a:xfrm>
          <a:prstGeom prst="roundRect">
            <a:avLst>
              <a:gd name="adj" fmla="val 3404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27448" y="207568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B6BE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120640" y="202996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Школа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800600" y="24505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6B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$250 / год за класс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800600" y="28346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Около $8 на ученика. Карты всех девятиклассников, кабинет куратора, отчёт «куда смотрят наши ученики».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75320" y="1874520"/>
            <a:ext cx="3383280" cy="2148840"/>
          </a:xfrm>
          <a:prstGeom prst="roundRect">
            <a:avLst>
              <a:gd name="adj" fmla="val 3404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522208" y="207568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08A2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15400" y="202996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Курсы и менторы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595360" y="24505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10–20 % с продажи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595360" y="28346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Место на карте: курс как станция на маршруте — ровно в момент поиска шага.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85800" y="4206240"/>
            <a:ext cx="5257800" cy="1005840"/>
          </a:xfrm>
          <a:prstGeom prst="roundRect">
            <a:avLst>
              <a:gd name="adj" fmla="val 7273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05840" y="4370832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B5D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Бесплатно
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разговор, карта с 3–5 линиями, «почему» и один шаг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263640" y="4206240"/>
            <a:ext cx="5257800" cy="1005840"/>
          </a:xfrm>
          <a:prstGeom prst="roundRect">
            <a:avLst>
              <a:gd name="adj" fmla="val 7273"/>
            </a:avLst>
          </a:prstGeom>
          <a:solidFill>
            <a:srgbClr val="0B5D6E"/>
          </a:solidFill>
          <a:ln w="12700">
            <a:solidFill>
              <a:srgbClr val="0B5D6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0" y="4370832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подписке
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пересборка карты, шаг каждую четверть, skills tracking, AI-ментор, кабинет родителя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5440680"/>
            <a:ext cx="10835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Выход на рынок — через школы: 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один договор даёт класс активных учеников, а их родители — естественная база для подписки. Цены — гипотезы: проверяем интервью с родителями и пилотом в школе.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146304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Навигатор, а не тест</a:t>
            </a:r>
            <a:endParaRPr lang="en-US" sz="5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69748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 Navigator отвечает не только на вопрос «кем мне стать?», но и на вопрос «что мне делать уже сейчас, чтобы туда прийти?»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914400" y="4539996"/>
            <a:ext cx="7955280" cy="64008"/>
          </a:xfrm>
          <a:prstGeom prst="rect">
            <a:avLst/>
          </a:prstGeom>
          <a:solidFill>
            <a:srgbClr val="0B5D6E"/>
          </a:solidFill>
          <a:ln w="12700">
            <a:solidFill>
              <a:srgbClr val="0B5D6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95528" y="445312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B6B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47288" y="445312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9E5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99048" y="445312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0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732520" y="4434840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0E2A33"/>
          </a:solidFill>
          <a:ln w="31750">
            <a:solidFill>
              <a:srgbClr val="E08A2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4846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интересы  →  маршруты  →  навыки  →  университет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58521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career-navigator.markingmark33.workers.dev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Career Navigator</dc:title>
  <dc:subject>PptxGenJS Presentation</dc:subject>
  <dc:creator>Career Navigator</dc:creator>
  <cp:lastModifiedBy>Career Navigator</cp:lastModifiedBy>
  <cp:revision>1</cp:revision>
  <dcterms:created xsi:type="dcterms:W3CDTF">2026-09-06T10:31:08Z</dcterms:created>
  <dcterms:modified xsi:type="dcterms:W3CDTF">2026-09-06T10:31:08Z</dcterms:modified>
</cp:coreProperties>
</file>