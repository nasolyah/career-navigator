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Career Navigator. Мы сделали не тест на профессию, а живую карту, которая ведёт девятиклассника три года до поступления. Прототип работает вживую — покажем в конце.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вопроса прямо из кейса. Важно: в 9 классе времени как будто много, и поэтому решение откладывают — а в 11 классе на него уже нет времени.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выбрали одного пользователя, а не «всех школьников». Главный аргумент за 9 класс — время: это единственный класс, где ещё можно попробовать и передумать.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Общий провал у всех один: вердикт выдаётся один раз. Отсюда наша идея — не тест, а спутник.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слайд. Профтест выбирает один главный интерес — мы связываем все в пересечения. И метафора метро объясняет главное: ошибка не стоит трёх лет, потому что есть пересадки.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Семь шагов пути. Восьмой — возвращение: именно он отличает спутника от теста.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Отвечаем на главный вопрос жюри: где здесь AI, а не обёртка вокруг чата. Ответ — в разделении: модель связывает и объясняет, факты берёт код из справочника, и есть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— три страны, потому что продукт языконезависим и проблема одинаковая. Главное: 2,7 миллиона девятиклассников каждый год, и спрос со стороны школ уже создан государством — в России профориентация обязательна с 2023 года, требование есть, а инструмента нет. Второе главное: семья девятиклассника уже тратит около 250 долларов в месяц на подготовку, наши 6 долларов — это два процента. TAM, SAM и SOM — наш собственный расчёт от числа учеников, а не чужая оценка рынка, и мы честно это подписываем.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вопрос кейса — за что готовы платить. Ответ: за сопровождение, а не за тест. И начинаем со школ, потому что привлекать подростка поштучно дорого.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здесь: одна карта стоит треть цента, потому что модель вызывается один раз, а всю дальнейшую жизнь карты пересчитывает код. Четырёх платящих родителей достаточно, чтобы покрыть все сервисы. Операционный ноль с командой — около двух с половиной тысяч долларов в месяц, это 417 подписок или 30 школ. И мы честно разделяем: тарифы посчитаны, зарплаты оценены.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демонстрации. План: заполнить за Даню — карта от AI — открыть линию — сделать шаг — показать, как карта изменилась.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возвращаемся к формулировке кейса. И приглашаем жюри открыть ссылку и собрать карту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EDTECH HACKATHON  ·  КЕЙС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 Navigator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14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Живая карта, которая показывает девятикласснику, как его разные интересы складываются в маршруты — и что сделать уже в этой четверти.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47685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4728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4787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Профессии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750808" y="46817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9C9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51392" y="50200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Университет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15 лет от школьника ждут большого решения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вопроса, на которые он не может ответить один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«Кем я хочу стать?»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Интересов много, но непонятно, какие из них превращаются в профессию.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9659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0840" y="2221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выбрать?»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26791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Названия специальностей ничего не говорят о реальной работе после выпуска.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«Что мне развивать?»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Неясно, какие знания, навыки и проекты нужны уже сейчас.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0840" y="4050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«Куда поступать?»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450799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Тысячи вузов и программ делают выбор сложным и случайным.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Времени вроде много — и именно поэтому решение откладывается до 11 класса, когда выбирать уже поздно.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Даня, 15 лет, 9 класс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пустой — просто не видит, как склеить свои увлечения во что-то одно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77240" y="2020824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разбирает партии гроссмейстеров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734056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2724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режет ролики друзьям в CapCut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3447288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34440" y="343814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единственный, кому интересно на уроке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416052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34440" y="415137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</a:t>
            </a:r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рисует вечерами просто так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920240"/>
            <a:ext cx="5029200" cy="2103120"/>
          </a:xfrm>
          <a:prstGeom prst="roundRect">
            <a:avLst>
              <a:gd name="adj" fmla="val 3478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1488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«У меня много всего, что мне нравится, но я не понимаю, что из этого про меня, а что просто развлечение. И что мне с этим делать прямо сейчас».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206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давят: «определяйся». Школа: один классный час и тест из 90-х.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502920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1560" y="5230368"/>
            <a:ext cx="10104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инсайт.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девятиклассника есть ресурс, которого нет у одиннадцатиклассника, — время. Три года можно пробовать, ошибаться и передумывать. Все существующие решения этот ресурс игнорируют: они решают судьбу за один вечер.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существующие решения ему не помогают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85800" y="1655064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78308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Профтесты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977640" y="1783080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Выдают ярлык «человек–техника» без «почему» и без «что дальше». Одноразово.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5328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Карьерный консультант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2532888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$50–150 за сессию, разово, не сопровождает три года.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3154680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3282696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и учителя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3282696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Советуют из своего опыта и своих страхов: «иди в айти, там деньги».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032504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и поиск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4032504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Ответит один раз, но не помнит о тебе и не вернётся через месяц.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654296"/>
            <a:ext cx="10835640" cy="658368"/>
          </a:xfrm>
          <a:prstGeom prst="roundRect">
            <a:avLst>
              <a:gd name="adj" fmla="val 11111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78231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Агрегаторы вузов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4782312"/>
            <a:ext cx="7223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Отвечают «куда поступать», а не «кем быть». Для 9 класса рано.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5532120"/>
            <a:ext cx="10835640" cy="868680"/>
          </a:xfrm>
          <a:prstGeom prst="roundRect">
            <a:avLst>
              <a:gd name="adj" fmla="val 8421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715000"/>
            <a:ext cx="10104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дают вердикт один раз. А нужен спутник, который ведёт три года и пересобирает маршрут, когда ученик меняется.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 список профессий, а карта маршрутов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— станции старта. Профессии — линии. Навыки — остановки. Чего не хватает — пунктир.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Figma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46120" y="2112264"/>
            <a:ext cx="4892040" cy="73152"/>
          </a:xfrm>
          <a:prstGeom prst="rect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0332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0060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9788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95160" y="205740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37576" y="204825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191109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Геймдизайн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ИТМО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Шахматы + Биология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246120" y="2752344"/>
            <a:ext cx="4892040" cy="73152"/>
          </a:xfrm>
          <a:prstGeom prst="rect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0332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0060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9788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95160" y="26974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7576" y="268833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2E9E5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58200" y="25511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Биоинформатика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МГУ, ФББ · ИТМО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Биология + Монтаж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246120" y="3392424"/>
            <a:ext cx="4892040" cy="73152"/>
          </a:xfrm>
          <a:prstGeom prst="rect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0332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9788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333756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37576" y="332841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31912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о науке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· МГУ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3886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Монтаж + Figma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246120" y="4032504"/>
            <a:ext cx="4892040" cy="73152"/>
          </a:xfrm>
          <a:prstGeom prst="rect">
            <a:avLst/>
          </a:prstGeom>
          <a:solidFill>
            <a:srgbClr val="D6428F"/>
          </a:solidFill>
          <a:ln w="12700">
            <a:solidFill>
              <a:srgbClr val="D6428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0332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9788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397764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37576" y="396849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31750">
            <a:solidFill>
              <a:srgbClr val="D6428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458200" y="383133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Моушн-дизайн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ВШЭ Школа дизайна · Британка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855464" y="2148840"/>
            <a:ext cx="73152" cy="640080"/>
          </a:xfrm>
          <a:prstGeom prst="rect">
            <a:avLst/>
          </a:prstGeom>
          <a:solidFill>
            <a:srgbClr val="16242A"/>
          </a:solidFill>
          <a:ln w="12700">
            <a:solidFill>
              <a:srgbClr val="16242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20299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3168" y="26700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24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Python-основы — пересадка: одна станция работает на двух линиях сразу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85800" y="493776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1560" y="5120640"/>
            <a:ext cx="10104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«Пересадку можно сделать без потери пройденного»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1051560" y="5559552"/>
            <a:ext cx="10104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через год Даня поймёт, что биоинформатика не его, он не начинает с нуля — пересаживается на соседнюю линию через общую станцию. Это ответ на его главный страх: ошибиться и потерять годы.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Путь: от «не знаю» до конкретного шага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каждом шаге видно, почему система показала именно это и что делать дальше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2670048"/>
            <a:ext cx="9509760" cy="54864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имя, четверть,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куда поступать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77368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1793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1793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вопросов,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тест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435864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76428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428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ищет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комбинации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34924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линии, станции,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пересадки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52856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93420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Линия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93420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 тебя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113520" y="2514600"/>
            <a:ext cx="365760" cy="365760"/>
          </a:xfrm>
          <a:prstGeom prst="ellipse">
            <a:avLst/>
          </a:prstGeom>
          <a:solidFill>
            <a:srgbClr val="0B5D6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51916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1916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одно действие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четверть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698480" y="2514600"/>
            <a:ext cx="365760" cy="365760"/>
          </a:xfrm>
          <a:prstGeom prst="ellipse">
            <a:avLst/>
          </a:prstGeom>
          <a:solidFill>
            <a:srgbClr val="E08A2E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104120" y="2148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меняется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0104120" y="3035808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каждого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события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80760" y="3931920"/>
            <a:ext cx="4800600" cy="0"/>
          </a:xfrm>
          <a:prstGeom prst="line">
            <a:avLst/>
          </a:prstGeom>
          <a:noFill/>
          <a:ln w="19050">
            <a:solidFill>
              <a:srgbClr val="E08A2E"/>
            </a:solidFill>
            <a:prstDash val="dash"/>
            <a:head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80760" y="402336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пересобирается — и цикл повторяется каждую четверть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85800" y="4754880"/>
            <a:ext cx="10835640" cy="1371600"/>
          </a:xfrm>
          <a:prstGeom prst="roundRect">
            <a:avLst>
              <a:gd name="adj" fmla="val 533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1560" y="4983480"/>
            <a:ext cx="10104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Здесь и живёт retention.  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остаётся нужным три года, потому что меняется вместе с учеником. Не план на три года сразу, а один шаг на эту четверть — и новый шаг, когда предыдущий сделан. Возврат происходит по событиям: прошёл шаг, пришли оценки, появился новый интерес.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Где здесь AI — и где его сознательно нет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связывает и объясняет. Факты берутся из справочника, а не из головы модели.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делает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49808" y="2221992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 из свободных ответов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«шахматы + биология = ищет закономерности в сложных системах»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49808" y="2935224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8620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Пересечения, а не главный интерес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перебирает комбинации и сверяет со справочником профессий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49808" y="3648456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57530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«Почему» на языке 15-летнего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канцелярита, со ссылкой на его же ответы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49808" y="4361688"/>
            <a:ext cx="146304" cy="146304"/>
          </a:xfrm>
          <a:prstGeom prst="ellipse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288536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после каждого события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шаг сделан, пришли оценки, появился новый интерес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Код делает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56248" y="2221992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14884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специальности и вузы — из справочника на 22 профессии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48" y="2935224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862072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Геометрия карты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раскладка линий, статусы станций, пересадки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56248" y="3648456"/>
            <a:ext cx="146304" cy="146304"/>
          </a:xfrm>
          <a:prstGeom prst="ellipse">
            <a:avLst/>
          </a:prstGeom>
          <a:solidFill>
            <a:srgbClr val="5A7078"/>
          </a:solidFill>
          <a:ln w="12700">
            <a:solidFill>
              <a:srgbClr val="5A707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575304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молчит 40 секунд → карта из локальных данных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489204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5074920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Ограничители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440680"/>
            <a:ext cx="10104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никогда не сужается до одной линии. Ни одной рекомендации без «почему». Каждое событие заканчивается шагом, а не вердиктом. Решение всегда за учеником — AI снижает неопределённость, а не выбирает за него.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Рынок: 2,7 млн девятиклассников в год в трёх странах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Россия, Казахстан, Узбекистан. Все цифры — из открытых источников, ссылки внизу слайда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17373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Страна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737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класс, 2025/26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Школ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7373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образования, последние данные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2011680"/>
            <a:ext cx="10835640" cy="402336"/>
          </a:xfrm>
          <a:prstGeom prst="roundRect">
            <a:avLst>
              <a:gd name="adj" fmla="val 18182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0848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084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1,71 млн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20848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~40 000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2084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EdTech — 154 млрд ₽ за 2025, +12 % за год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5054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Казахстан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246120" y="25054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 тыс.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2505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8 048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25054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EdTech — 45 млрд ₸ за 2025 (МЦРИАП)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2852928"/>
            <a:ext cx="10835640" cy="402336"/>
          </a:xfrm>
          <a:prstGeom prst="roundRect">
            <a:avLst>
              <a:gd name="adj" fmla="val 18182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Узбекистан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622 тыс.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2926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11 118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2926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Образование — 23,8 трлн сумов за I п/г 2026, +22,7 %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33467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Вместе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346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2,69 млн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3467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59 000+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3467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млн школьников в трёх странах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85800" y="3840480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3931920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России профориентация обязательна во всех школах с 1 сентября 2023 года: курс «Россия — мои горизонты», еженедельно в 6–11 классах. Требование есть, инструмента нет.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4805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Семья уже платит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49808" y="4901184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97280" y="48463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5 100 ₽ в неделю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тратят родители девятиклассника в России на дополнительные занятия — около $250 в месяц (Superjob, 2026)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49808" y="5468112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97280" y="541324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Наши $6 в месяц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примерно 2 % от того, что семья платит и так. Каждая вторая семья платит репетиторам — против 27 % в 2020-м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44805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Объём рынка — наш расчёт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556248" y="4882896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03720" y="4846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$395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8,1 млн учеников 9–11 классов трёх стран × $49 в год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56248" y="5285232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03720" y="5248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$160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40 % семей — те, кто уже платит за дополнительное образование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56248" y="5687568"/>
            <a:ext cx="146304" cy="146304"/>
          </a:xfrm>
          <a:prstGeom prst="ellipse">
            <a:avLst/>
          </a:prstGeom>
          <a:solidFill>
            <a:srgbClr val="2B6BE4"/>
          </a:solidFill>
          <a:ln w="12700">
            <a:solidFill>
              <a:srgbClr val="2B6BE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903720" y="565099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 $1,6 млн  </a:t>
            </a:r>
            <a:pPr indent="0" marL="0"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1 % SAM к третьему году плюс школьные лицензии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6144768"/>
            <a:ext cx="1083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по школам и ученикам — 2025/26 учебный год. Рыночные показатели — последние опубликованные, год указан у каждой цифры. Источники: Рособрнадзор и «Интерфакс» (ОГЭ-2026), Минпросвещения РФ и РК, Госкомстат Узбекистана, Smart Ranking (EdTech-2025), МЦРИАП, Superjob (опрос 3000 родителей, 2026), курс ЦБ РФ 86,9 ₽/$ на 04.09.2026. $49 — российская цена, для Казахстана и Узбекистана её нужно адаптировать, поэтому TAM — верхняя граница.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разовый тест не платят. За сопровождение — платят.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 растёт три года: чем дольше ученик пользуется картой, тем она точнее. Пользуется ученик — платит взрослый.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Родитель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9E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/ мес  ·  $49 / год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Спокойствие: у ребёнка есть план, и он им занимается. Дешевле одной сессии консультанта ($50–150).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8056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2744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2064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Школа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6B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 / год за класс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Около $8 на ученика. Карты всех девятиклассников, кабинет куратора, отчёт «куда смотрят наши ученики».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75320" y="187452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22208" y="207568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20299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Курсы и менторы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2450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10–20 % с продажи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95360" y="28346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на карте: курс как станция на маршруте — ровно в момент поиска шага.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B5D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Бесплатно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разговор, карта с 3–5 линиями, «почему» и один шаг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4206240"/>
            <a:ext cx="5257800" cy="1005840"/>
          </a:xfrm>
          <a:prstGeom prst="roundRect">
            <a:avLst>
              <a:gd name="adj" fmla="val 7273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37083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подписке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пересборка карты, шаг каждую четверть, skills tracking, AI-ментор, кабинет родителя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440680"/>
            <a:ext cx="10835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на рынок — через школы: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договор даёт класс активных учеников, а их родители — естественная база для подписки. Цены — гипотезы: проверяем интервью с родителями и пилотом в школе.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нужно на старт и когда выходим в ноль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посчитана по реальным тарифам Google и Cloudflare. Зарплаты — оценка, и мы это помечаем.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$0,003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26771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стоит одна карта от AI: 3 300 токенов на входе, 1 300 на выходе по тарифу Gemini 3.1 Flash Lite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16916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 / мес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26771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Cloudflare Workers — 10 млн запросов. Этого хватает на десятки тысяч учеников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75320" y="16916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0F5F6"/>
          </a:solidFill>
          <a:ln w="12700">
            <a:solidFill>
              <a:srgbClr val="F0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18288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5D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$20 / мес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26771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вместе на 1 000 активных учеников: сервер, карты, домен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004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нужно на старт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49808" y="3621024"/>
            <a:ext cx="146304" cy="146304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35661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 — до пилота в школе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месяца: сервисы, домен, юридические документы и согласия родителей. Команда работает за долю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49808" y="4187952"/>
            <a:ext cx="146304" cy="146304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13308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$9 000–15 000 — runway на полгода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человека, справочник на 200 профессий с требованиями вузов, пилоты в первых школах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2004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Когда выходим в ноль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556248" y="3621024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3566160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подписки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покрывают все сервисы. Технически продукт окупает себя почти сразу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56248" y="4151376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03720" y="4096512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$2 500 в месяц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операционные расходы, когда команда из трёх человек на зарплате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56248" y="4681728"/>
            <a:ext cx="146304" cy="146304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03720" y="4626864"/>
            <a:ext cx="4617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417 подписок или 120 классов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и есть точка ноль. Смешанный сценарий: 30 школ плюс 105 родителей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85800" y="5257800"/>
            <a:ext cx="10835640" cy="594360"/>
          </a:xfrm>
          <a:prstGeom prst="roundRect">
            <a:avLst>
              <a:gd name="adj" fmla="val 12308"/>
            </a:avLst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5376672"/>
            <a:ext cx="10195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строится один раз, а все события пересчитывает код, а не модель. Поэтому себестоимость почти не растёт с использованием — при подписке в $6 это разница между продуктом и чат-ботом.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98932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70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Тарифы на сентябрь 2026: Gemini 3.1 Flash Lite — $0,25 за млн входных и $1,50 за млн выходных токенов; Cloudflare Workers Paid — $5 в месяц за 10 млн запросов. Расход токенов измерен на реальном запросе. Зарплаты и объём работ до пилота — наша оценка, а не расчёт по тарифу.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Прототип работает — это не мокап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070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Открывается по ссылке с любого ноутбука, без установки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сек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собирается живым AI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 конкретного ученика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8056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линий, у каждой — объяснение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«почему это про тебя»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75320" y="1920240"/>
            <a:ext cx="3383280" cy="1691640"/>
          </a:xfrm>
          <a:prstGeom prst="roundRect">
            <a:avLst>
              <a:gd name="adj" fmla="val 43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21031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788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 поступления: СНГ,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Европа, США, Азия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0408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Разговор вместо теста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вопросов, под каждым — зачем спрашиваем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27648" y="4023360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клик по станции: что это и на каких линиях нужно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Мои шаги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 сделал шаг» → карта перестраивается на глазах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7648" y="477316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642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472744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оценки и новые интересы пересобирают маршруты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760720"/>
            <a:ext cx="1083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46304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Навигатор, а не тест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Navigator отвечает не только на вопрос «кем мне стать?», но и на вопрос «что мне делать уже сейчас, чтобы туда прийти?»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539996"/>
            <a:ext cx="7955280" cy="64008"/>
          </a:xfrm>
          <a:prstGeom prst="rect">
            <a:avLst/>
          </a:prstGeom>
          <a:solidFill>
            <a:srgbClr val="0B5D6E"/>
          </a:solidFill>
          <a:ln w="12700">
            <a:solidFill>
              <a:srgbClr val="0B5D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B6B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4728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48" y="445312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32520" y="443484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E2A33"/>
          </a:solidFill>
          <a:ln w="31750">
            <a:solidFill>
              <a:srgbClr val="E08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4846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9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интересы  →  маршруты  →  навыки  →  университет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career-navigator.markingmark33.workers.dev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 Navigator</dc:title>
  <dc:subject>PptxGenJS Presentation</dc:subject>
  <dc:creator>Career Navigator</dc:creator>
  <cp:lastModifiedBy>Career Navigator</cp:lastModifiedBy>
  <cp:revision>1</cp:revision>
  <dcterms:created xsi:type="dcterms:W3CDTF">2026-09-06T11:41:09Z</dcterms:created>
  <dcterms:modified xsi:type="dcterms:W3CDTF">2026-09-06T11:41:09Z</dcterms:modified>
</cp:coreProperties>
</file>